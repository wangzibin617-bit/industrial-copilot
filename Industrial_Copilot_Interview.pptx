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00BA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76200"/>
          </a:xfrm>
          <a:prstGeom prst="rect">
            <a:avLst/>
          </a:prstGeom>
          <a:solidFill>
            <a:srgbClr val="00BA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828800"/>
            <a:ext cx="63500" cy="2926080"/>
          </a:xfrm>
          <a:prstGeom prst="rect">
            <a:avLst/>
          </a:prstGeom>
          <a:solidFill>
            <a:srgbClr val="00BA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196596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7280"/>
              </a:lnSpc>
              <a:spcAft>
                <a:spcPts val="0"/>
              </a:spcAft>
              <a:defRPr sz="5600" b="1">
                <a:solidFill>
                  <a:srgbClr val="FFFFFF"/>
                </a:solidFill>
                <a:latin typeface="Microsoft YaHei"/>
              </a:defRPr>
            </a:pPr>
            <a:r>
              <a:t>Industrial Copilot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60"/>
              </a:lnSpc>
              <a:spcAft>
                <a:spcPts val="0"/>
              </a:spcAft>
              <a:defRPr sz="2200" b="0">
                <a:solidFill>
                  <a:srgbClr val="00BAB3"/>
                </a:solidFill>
                <a:latin typeface="Microsoft YaHei"/>
              </a:defRPr>
            </a:pPr>
            <a:r>
              <a:t>AI 驱动的工业自动化销售助手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24612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94A3B8"/>
                </a:solidFill>
                <a:latin typeface="Microsoft YaHei"/>
              </a:defRPr>
            </a:pPr>
            <a:r>
              <a:t>从发现痛点到交付 AI SaaS 产品 — 一个 AI 产品经理的 0→1 实践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5120640"/>
            <a:ext cx="10515600" cy="6350"/>
          </a:xfrm>
          <a:prstGeom prst="rect">
            <a:avLst/>
          </a:prstGeom>
          <a:solidFill>
            <a:srgbClr val="2D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3035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50"/>
              </a:lnSpc>
              <a:spcBef>
                <a:spcPts val="0"/>
              </a:spcBef>
              <a:spcAft>
                <a:spcPts val="400"/>
              </a:spcAft>
              <a:defRPr sz="1400" b="0">
                <a:solidFill>
                  <a:srgbClr val="94A3B8"/>
                </a:solidFill>
                <a:latin typeface="Microsoft YaHei"/>
              </a:defRPr>
            </a:pPr>
            <a:r>
              <a:t>AI 产品经理面试作品  ·  2026</a:t>
            </a:r>
          </a:p>
          <a:p>
            <a:pPr algn="l">
              <a:lnSpc>
                <a:spcPts val="1250"/>
              </a:lnSpc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647282"/>
                </a:solidFill>
                <a:latin typeface="Microsoft YaHei"/>
              </a:defRPr>
            </a:pPr>
            <a:r>
              <a:t>全栈独立开发  |  Next.js 15 + Supabase + DeepSeek + Vercel AI SDK  |  2 周 MVP 交付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7395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170"/>
              </a:lnSpc>
              <a:spcAft>
                <a:spcPts val="0"/>
              </a:spcAft>
              <a:defRPr sz="900" b="0">
                <a:solidFill>
                  <a:srgbClr val="647282"/>
                </a:solidFill>
                <a:latin typeface="Microsoft YaHei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11480"/>
            <a:ext cx="457200" cy="50800"/>
          </a:xfrm>
          <a:prstGeom prst="rect">
            <a:avLst/>
          </a:prstGeom>
          <a:solidFill>
            <a:srgbClr val="00BA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900"/>
              </a:lnSpc>
              <a:spcAft>
                <a:spcPts val="0"/>
              </a:spcAft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用户痛点 &amp; 产品洞察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发现真问题，定义对的产品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2606040" cy="1737360"/>
          </a:xfrm>
          <a:prstGeom prst="roundRect">
            <a:avLst/>
          </a:prstGeom>
          <a:solidFill>
            <a:srgbClr val="132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45920"/>
            <a:ext cx="2606040" cy="38100"/>
          </a:xfrm>
          <a:prstGeom prst="rect">
            <a:avLst/>
          </a:prstGeom>
          <a:solidFill>
            <a:srgbClr val="E8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200" b="1">
                <a:solidFill>
                  <a:srgbClr val="E85D5D"/>
                </a:solidFill>
                <a:latin typeface="Microsoft YaHei"/>
              </a:defRPr>
            </a:pPr>
            <a:r>
              <a:t>⏳  选型等待 1-2 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57400"/>
            <a:ext cx="23317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销售 100% 依赖售前工程师</a:t>
            </a:r>
            <a:br/>
            <a:r>
              <a:t>销售只能等，客户在流失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6432" y="1645920"/>
            <a:ext cx="2606040" cy="1737360"/>
          </a:xfrm>
          <a:prstGeom prst="roundRect">
            <a:avLst/>
          </a:prstGeom>
          <a:solidFill>
            <a:srgbClr val="132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56432" y="1645920"/>
            <a:ext cx="260604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93592" y="173736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200" b="1">
                <a:solidFill>
                  <a:srgbClr val="F59E0B"/>
                </a:solidFill>
                <a:latin typeface="Microsoft YaHei"/>
              </a:defRPr>
            </a:pPr>
            <a:r>
              <a:t>🔄  需求传递失真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93592" y="2057400"/>
            <a:ext cx="23317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口头转述 → 反复追问 ≥ 3 轮</a:t>
            </a:r>
            <a:br/>
            <a:r>
              <a:t>平均沟通损耗 30-60 min/单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72784" y="1645920"/>
            <a:ext cx="2606040" cy="1737360"/>
          </a:xfrm>
          <a:prstGeom prst="roundRect">
            <a:avLst/>
          </a:prstGeom>
          <a:solidFill>
            <a:srgbClr val="132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72784" y="1645920"/>
            <a:ext cx="2606040" cy="38100"/>
          </a:xfrm>
          <a:prstGeom prst="rect">
            <a:avLst/>
          </a:prstGeom>
          <a:solidFill>
            <a:srgbClr val="639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9944" y="173736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200" b="1">
                <a:solidFill>
                  <a:srgbClr val="639FEB"/>
                </a:solidFill>
                <a:latin typeface="Microsoft YaHei"/>
              </a:defRPr>
            </a:pPr>
            <a:r>
              <a:t>📉  经验无法沉淀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9944" y="2057400"/>
            <a:ext cx="23317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老销售离职 = 知识清零</a:t>
            </a:r>
            <a:br/>
            <a:r>
              <a:t>新人 3 个月才能独立接单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89136" y="1645920"/>
            <a:ext cx="2606040" cy="1737360"/>
          </a:xfrm>
          <a:prstGeom prst="roundRect">
            <a:avLst/>
          </a:prstGeom>
          <a:solidFill>
            <a:srgbClr val="132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89136" y="1645920"/>
            <a:ext cx="2606040" cy="38100"/>
          </a:xfrm>
          <a:prstGeom prst="rect">
            <a:avLst/>
          </a:prstGeom>
          <a:solidFill>
            <a:srgbClr val="00BA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26296" y="173736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200" b="1">
                <a:solidFill>
                  <a:srgbClr val="00BAB3"/>
                </a:solidFill>
                <a:latin typeface="Microsoft YaHei"/>
              </a:defRPr>
            </a:pPr>
            <a:r>
              <a:t>📚  跨品牌对比困难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26296" y="2057400"/>
            <a:ext cx="23317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施耐德、信捷手册格式各异</a:t>
            </a:r>
            <a:br/>
            <a:r>
              <a:t>手工 Excel 对比 30-60 min/次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794760"/>
            <a:ext cx="10881360" cy="6350"/>
          </a:xfrm>
          <a:prstGeom prst="rect">
            <a:avLst/>
          </a:prstGeom>
          <a:solidFill>
            <a:srgbClr val="2D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977639"/>
            <a:ext cx="53035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25"/>
              </a:lnSpc>
              <a:spcBef>
                <a:spcPts val="0"/>
              </a:spcBef>
              <a:spcAft>
                <a:spcPts val="1000"/>
              </a:spcAft>
              <a:defRPr sz="1700" b="1">
                <a:solidFill>
                  <a:srgbClr val="00BAB3"/>
                </a:solidFill>
                <a:latin typeface="Microsoft YaHei"/>
              </a:defRPr>
            </a:pPr>
            <a:r>
              <a:t>💡  为什么这是 AI 产品机会？</a:t>
            </a:r>
          </a:p>
          <a:p>
            <a:pPr algn="l">
              <a:lnSpc>
                <a:spcPts val="1500"/>
              </a:lnSpc>
              <a:spcBef>
                <a:spcPts val="0"/>
              </a:spcBef>
              <a:spcAft>
                <a:spcPts val="600"/>
              </a:spcAft>
              <a:defRPr sz="1200" b="0">
                <a:solidFill>
                  <a:srgbClr val="E2E8F0"/>
                </a:solidFill>
                <a:latin typeface="Microsoft YaHei"/>
              </a:defRPr>
            </a:pPr>
            <a:r>
              <a:t>工业自动化选型是规则密集 + 知识密集领域：</a:t>
            </a:r>
          </a:p>
          <a:p>
            <a:pPr algn="l">
              <a:lnSpc>
                <a:spcPts val="1375"/>
              </a:lnSpc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▸ 产品参数有结构化边界（I/O、通讯协议、功率）→ 可被检索</a:t>
            </a:r>
          </a:p>
          <a:p>
            <a:pPr algn="l">
              <a:lnSpc>
                <a:spcPts val="1375"/>
              </a:lnSpc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▸ 销售知识可沉淀（选型指南、对比话术、场景方案）→ 可被注入 Prompt</a:t>
            </a:r>
          </a:p>
          <a:p>
            <a:pPr algn="l">
              <a:lnSpc>
                <a:spcPts val="1375"/>
              </a:lnSpc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▸ LLM 擅长理解自然语言需求 + 匹配结构化数据 → 天然方案</a:t>
            </a:r>
          </a:p>
          <a:p>
            <a:pPr algn="l">
              <a:lnSpc>
                <a:spcPts val="500"/>
              </a:lnSpc>
              <a:spcBef>
                <a:spcPts val="0"/>
              </a:spcBef>
              <a:spcAft>
                <a:spcPts val="400"/>
              </a:spcAft>
              <a:defRPr sz="4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ts val="1500"/>
              </a:lnSpc>
              <a:spcBef>
                <a:spcPts val="0"/>
              </a:spcBef>
              <a:spcAft>
                <a:spcPts val="200"/>
              </a:spcAft>
              <a:defRPr sz="1200" b="1">
                <a:solidFill>
                  <a:srgbClr val="00BAB3"/>
                </a:solidFill>
                <a:latin typeface="Microsoft YaHei"/>
              </a:defRPr>
            </a:pPr>
            <a:r>
              <a:t>🎯 产品目标：让不懂技术的销售，用自然语言 5 分钟内获得基于真实产品数据的推荐型号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3977639"/>
            <a:ext cx="5303520" cy="2377440"/>
          </a:xfrm>
          <a:prstGeom prst="roundRect">
            <a:avLst/>
          </a:prstGeom>
          <a:solidFill>
            <a:srgbClr val="132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114800"/>
            <a:ext cx="49377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75"/>
              </a:lnSpc>
              <a:spcBef>
                <a:spcPts val="0"/>
              </a:spcBef>
              <a:spcAft>
                <a:spcPts val="800"/>
              </a:spcAft>
              <a:defRPr sz="1500" b="1">
                <a:solidFill>
                  <a:srgbClr val="00BAB3"/>
                </a:solidFill>
                <a:latin typeface="Microsoft YaHei"/>
              </a:defRPr>
            </a:pPr>
            <a:r>
              <a:t>👤  MVP 目标用户</a:t>
            </a:r>
          </a:p>
          <a:p>
            <a:pPr algn="l">
              <a:lnSpc>
                <a:spcPts val="1625"/>
              </a:lnSpc>
              <a:spcBef>
                <a:spcPts val="0"/>
              </a:spcBef>
              <a:spcAft>
                <a:spcPts val="400"/>
              </a:spcAft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张伟  |  32 岁  |  工业自动化销售 5 年</a:t>
            </a:r>
          </a:p>
          <a:p>
            <a:pPr algn="l">
              <a:lnSpc>
                <a:spcPts val="500"/>
              </a:lnSpc>
              <a:spcBef>
                <a:spcPts val="0"/>
              </a:spcBef>
              <a:spcAft>
                <a:spcPts val="400"/>
              </a:spcAft>
              <a:defRPr sz="4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ts val="1375"/>
              </a:lnSpc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日常：客户微信发需求 → 翻手册 → 问售前 → 等 1-2 天 → 回复客户</a:t>
            </a:r>
          </a:p>
          <a:p>
            <a:pPr algn="l">
              <a:lnSpc>
                <a:spcPts val="1375"/>
              </a:lnSpc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EF4444"/>
                </a:solidFill>
                <a:latin typeface="Microsoft YaHei"/>
              </a:defRPr>
            </a:pPr>
            <a:r>
              <a:t>痛点：不懂 PLC 型号差异，选型 100% 依赖售前</a:t>
            </a:r>
          </a:p>
          <a:p>
            <a:pPr algn="l">
              <a:lnSpc>
                <a:spcPts val="500"/>
              </a:lnSpc>
              <a:spcBef>
                <a:spcPts val="0"/>
              </a:spcBef>
              <a:spcAft>
                <a:spcPts val="400"/>
              </a:spcAft>
              <a:defRPr sz="4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ts val="1375"/>
              </a:lnSpc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10B981"/>
                </a:solidFill>
                <a:latin typeface="Microsoft YaHei"/>
              </a:defRPr>
            </a:pPr>
            <a:r>
              <a:t>使用 AI 后：客户发需求 → 打开 Copilot 输入 → 5 分钟拿推荐 → 即刻回复</a:t>
            </a:r>
          </a:p>
          <a:p>
            <a:pPr algn="l">
              <a:lnSpc>
                <a:spcPts val="1375"/>
              </a:lnSpc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10B981"/>
                </a:solidFill>
                <a:latin typeface="Microsoft YaHei"/>
              </a:defRPr>
            </a:pPr>
            <a:r>
              <a:t>价值：从「等售前」变成「自助选型」，响应速度提升 100x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47120" y="647395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170"/>
              </a:lnSpc>
              <a:spcAft>
                <a:spcPts val="0"/>
              </a:spcAft>
              <a:defRPr sz="900" b="0">
                <a:solidFill>
                  <a:srgbClr val="647282"/>
                </a:solidFill>
                <a:latin typeface="Microsoft YaHe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11480"/>
            <a:ext cx="457200" cy="50800"/>
          </a:xfrm>
          <a:prstGeom prst="rect">
            <a:avLst/>
          </a:prstGeom>
          <a:solidFill>
            <a:srgbClr val="00BA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900"/>
              </a:lnSpc>
              <a:spcAft>
                <a:spcPts val="0"/>
              </a:spcAft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产品方案 &amp; 核心工作流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自然语言输入 → 数据检索 → AI 推理 → 结构化输出 → 持久化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1417320" cy="1005840"/>
          </a:xfrm>
          <a:prstGeom prst="roundRect">
            <a:avLst/>
          </a:prstGeom>
          <a:solidFill>
            <a:srgbClr val="15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  <a:p>
            <a:pPr algn="ctr">
              <a:defRPr sz="900">
                <a:solidFill>
                  <a:srgbClr val="FFFFFF"/>
                </a:solidFill>
                <a:latin typeface="Microsoft YaHei"/>
              </a:defRPr>
            </a:pPr>
            <a:r>
              <a:t>用户输入</a:t>
            </a:r>
            <a:br/>
            <a:r>
              <a:t>自然语言需求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075688" y="1984248"/>
            <a:ext cx="100584" cy="146304"/>
          </a:xfrm>
          <a:prstGeom prst="rightArrow">
            <a:avLst/>
          </a:prstGeom>
          <a:solidFill>
            <a:srgbClr val="00BA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421417152080" y="1554480"/>
            <a:ext cx="1417320" cy="1005840"/>
          </a:xfrm>
          <a:prstGeom prst="roundRect">
            <a:avLst/>
          </a:prstGeom>
          <a:solidFill>
            <a:srgbClr val="2D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  <a:p>
            <a:pPr algn="ctr">
              <a:defRPr sz="900">
                <a:solidFill>
                  <a:srgbClr val="FFFFFF"/>
                </a:solidFill>
                <a:latin typeface="Microsoft YaHei"/>
              </a:defRPr>
            </a:pPr>
            <a:r>
              <a:t>关键词提取</a:t>
            </a:r>
            <a:br/>
            <a:r>
              <a:t>SQL ILIKE 检索</a:t>
            </a:r>
          </a:p>
        </p:txBody>
      </p:sp>
      <p:sp>
        <p:nvSpPr>
          <p:cNvPr id="8" name="Right Arrow 7"/>
          <p:cNvSpPr/>
          <p:nvPr/>
        </p:nvSpPr>
        <p:spPr>
          <a:xfrm>
            <a:off x="1421418587688" y="1984248"/>
            <a:ext cx="100584" cy="146304"/>
          </a:xfrm>
          <a:prstGeom prst="rightArrow">
            <a:avLst/>
          </a:prstGeom>
          <a:solidFill>
            <a:srgbClr val="00BA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842833664080" y="1554480"/>
            <a:ext cx="1417320" cy="1005840"/>
          </a:xfrm>
          <a:prstGeom prst="roundRect">
            <a:avLst/>
          </a:prstGeom>
          <a:solidFill>
            <a:srgbClr val="1E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  <a:p>
            <a:pPr algn="ctr">
              <a:defRPr sz="900">
                <a:solidFill>
                  <a:srgbClr val="FFFFFF"/>
                </a:solidFill>
                <a:latin typeface="Microsoft YaHei"/>
              </a:defRPr>
            </a:pPr>
            <a:r>
              <a:t>匹配产品库</a:t>
            </a:r>
            <a:br/>
            <a:r>
              <a:t>+ 销售知识库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842835099688" y="1984248"/>
            <a:ext cx="100584" cy="146304"/>
          </a:xfrm>
          <a:prstGeom prst="rightArrow">
            <a:avLst/>
          </a:prstGeom>
          <a:solidFill>
            <a:srgbClr val="00BA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264250176080" y="1554480"/>
            <a:ext cx="1417320" cy="1005840"/>
          </a:xfrm>
          <a:prstGeom prst="roundRect">
            <a:avLst/>
          </a:prstGeom>
          <a:solidFill>
            <a:srgbClr val="007A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  <a:p>
            <a:pPr algn="ctr">
              <a:defRPr sz="900">
                <a:solidFill>
                  <a:srgbClr val="FFFFFF"/>
                </a:solidFill>
                <a:latin typeface="Microsoft YaHei"/>
              </a:defRPr>
            </a:pPr>
            <a:r>
              <a:t>DeepSeek</a:t>
            </a:r>
            <a:br/>
            <a:r>
              <a:t>流式 AI 推理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264251611688" y="1984248"/>
            <a:ext cx="100584" cy="146304"/>
          </a:xfrm>
          <a:prstGeom prst="rightArrow">
            <a:avLst/>
          </a:prstGeom>
          <a:solidFill>
            <a:srgbClr val="00BA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685666688080" y="1554480"/>
            <a:ext cx="1417320" cy="1005840"/>
          </a:xfrm>
          <a:prstGeom prst="roundRect">
            <a:avLst/>
          </a:prstGeom>
          <a:solidFill>
            <a:srgbClr val="00BA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5</a:t>
            </a:r>
          </a:p>
          <a:p>
            <a:pPr algn="ctr">
              <a:defRPr sz="900">
                <a:solidFill>
                  <a:srgbClr val="FFFFFF"/>
                </a:solidFill>
                <a:latin typeface="Microsoft YaHei"/>
              </a:defRPr>
            </a:pPr>
            <a:r>
              <a:t>6 段式结构化</a:t>
            </a:r>
            <a:br/>
            <a:r>
              <a:t>回答输出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685668123688" y="1984248"/>
            <a:ext cx="100584" cy="146304"/>
          </a:xfrm>
          <a:prstGeom prst="rightArrow">
            <a:avLst/>
          </a:prstGeom>
          <a:solidFill>
            <a:srgbClr val="00BA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107083200080" y="1554480"/>
            <a:ext cx="1417320" cy="1005840"/>
          </a:xfrm>
          <a:prstGeom prst="roundRect">
            <a:avLst/>
          </a:prstGeom>
          <a:solidFill>
            <a:srgbClr val="005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6</a:t>
            </a:r>
          </a:p>
          <a:p>
            <a:pPr algn="ctr">
              <a:defRPr sz="900">
                <a:solidFill>
                  <a:srgbClr val="FFFFFF"/>
                </a:solidFill>
                <a:latin typeface="Microsoft YaHei"/>
              </a:defRPr>
            </a:pPr>
            <a:r>
              <a:t>对话 &amp; 方案</a:t>
            </a:r>
            <a:br/>
            <a:r>
              <a:t>自动持久化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926080"/>
            <a:ext cx="5486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75"/>
              </a:lnSpc>
              <a:spcBef>
                <a:spcPts val="0"/>
              </a:spcBef>
              <a:spcAft>
                <a:spcPts val="800"/>
              </a:spcAft>
              <a:defRPr sz="1500" b="1">
                <a:solidFill>
                  <a:srgbClr val="00BAB3"/>
                </a:solidFill>
                <a:latin typeface="Microsoft YaHei"/>
              </a:defRPr>
            </a:pPr>
            <a:r>
              <a:t>📋  RAG 检索 + AI 推理细节</a:t>
            </a:r>
          </a:p>
          <a:p>
            <a:pPr algn="l">
              <a:lnSpc>
                <a:spcPts val="1312"/>
              </a:lnSpc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E2E8F0"/>
                </a:solidFill>
                <a:latin typeface="Microsoft YaHei"/>
              </a:defRPr>
            </a:pPr>
            <a:r>
              <a:t>① Keyword Extraction — 中文分词 + 停用词过滤，免外部 NLP 依赖</a:t>
            </a:r>
          </a:p>
          <a:p>
            <a:pPr algn="l">
              <a:lnSpc>
                <a:spcPts val="1312"/>
              </a:lnSpc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E2E8F0"/>
                </a:solidFill>
                <a:latin typeface="Microsoft YaHei"/>
              </a:defRPr>
            </a:pPr>
            <a:r>
              <a:t>② SQL ILIKE — 匹配 product name / model / series / description</a:t>
            </a:r>
          </a:p>
          <a:p>
            <a:pPr algn="l">
              <a:lnSpc>
                <a:spcPts val="1312"/>
              </a:lnSpc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E2E8F0"/>
                </a:solidFill>
                <a:latin typeface="Microsoft YaHei"/>
              </a:defRPr>
            </a:pPr>
            <a:r>
              <a:t>③ buildDataContext — 检索结果 + source_note 注入 System Prompt</a:t>
            </a:r>
          </a:p>
          <a:p>
            <a:pPr algn="l">
              <a:lnSpc>
                <a:spcPts val="1312"/>
              </a:lnSpc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E2E8F0"/>
                </a:solidFill>
                <a:latin typeface="Microsoft YaHei"/>
              </a:defRPr>
            </a:pPr>
            <a:r>
              <a:t>④ streamText → Vercel AI SDK → Token-by-token 流式渲染</a:t>
            </a:r>
          </a:p>
          <a:p>
            <a:pPr algn="l">
              <a:lnSpc>
                <a:spcPts val="1312"/>
              </a:lnSpc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E2E8F0"/>
                </a:solidFill>
                <a:latin typeface="Microsoft YaHei"/>
              </a:defRPr>
            </a:pPr>
            <a:r>
              <a:t>⑤ onFinish 回调 — 服务端写入 messages，不依赖客户端可靠性</a:t>
            </a:r>
          </a:p>
          <a:p>
            <a:pPr algn="l">
              <a:lnSpc>
                <a:spcPts val="750"/>
              </a:lnSpc>
              <a:spcBef>
                <a:spcPts val="0"/>
              </a:spcBef>
              <a:spcAft>
                <a:spcPts val="400"/>
              </a:spcAft>
              <a:defRPr sz="6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ts val="1875"/>
              </a:lnSpc>
              <a:spcBef>
                <a:spcPts val="0"/>
              </a:spcBef>
              <a:spcAft>
                <a:spcPts val="600"/>
              </a:spcAft>
              <a:defRPr sz="1500" b="1">
                <a:solidFill>
                  <a:srgbClr val="00BAB3"/>
                </a:solidFill>
                <a:latin typeface="Microsoft YaHei"/>
              </a:defRPr>
            </a:pPr>
            <a:r>
              <a:t>🗣️  AI 输出 6 段式结构</a:t>
            </a:r>
          </a:p>
          <a:p>
            <a:pPr algn="l">
              <a:lnSpc>
                <a:spcPts val="1312"/>
              </a:lnSpc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FFFFFF"/>
                </a:solidFill>
                <a:latin typeface="Microsoft YaHei"/>
              </a:defRPr>
            </a:pPr>
            <a:r>
              <a:t>需求理解 → 推荐产品表格(型号+参数) → 推荐原因 → 替代方案 → 风险提示 → 参考来源</a:t>
            </a:r>
          </a:p>
          <a:p>
            <a:pPr algn="l">
              <a:lnSpc>
                <a:spcPts val="1250"/>
              </a:lnSpc>
              <a:spcBef>
                <a:spcPts val="0"/>
              </a:spcBef>
              <a:spcAft>
                <a:spcPts val="200"/>
              </a:spcAft>
              <a:defRPr sz="1000" b="0">
                <a:solidFill>
                  <a:srgbClr val="647282"/>
                </a:solidFill>
                <a:latin typeface="Microsoft YaHei"/>
              </a:defRPr>
            </a:pPr>
            <a:r>
              <a:t>每一条产品数据含 source_type + source_note，AI 回答可追溯到具体数据源</a:t>
            </a:r>
          </a:p>
        </p:txBody>
      </p:sp>
      <p:pic>
        <p:nvPicPr>
          <p:cNvPr id="17" name="Picture 16" descr="02_ch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926080"/>
            <a:ext cx="5212080" cy="34747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1247120" y="647395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170"/>
              </a:lnSpc>
              <a:spcAft>
                <a:spcPts val="0"/>
              </a:spcAft>
              <a:defRPr sz="900" b="0">
                <a:solidFill>
                  <a:srgbClr val="647282"/>
                </a:solidFill>
                <a:latin typeface="Microsoft YaHe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11480"/>
            <a:ext cx="457200" cy="50800"/>
          </a:xfrm>
          <a:prstGeom prst="rect">
            <a:avLst/>
          </a:prstGeom>
          <a:solidFill>
            <a:srgbClr val="00BA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900"/>
              </a:lnSpc>
              <a:spcAft>
                <a:spcPts val="0"/>
              </a:spcAft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AI 产品设计决策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MVP 范围取舍  ·  System Prompt 工程  ·  防幻觉机制  ·  数据可追溯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  <a:defRPr sz="1500" b="1">
                <a:solidFill>
                  <a:srgbClr val="10B981"/>
                </a:solidFill>
                <a:latin typeface="Microsoft YaHei"/>
              </a:defRPr>
            </a:pPr>
            <a:r>
              <a:t>✅  MVP 做了什么（核心假设验证）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5544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  <a:defRPr sz="1500" b="1">
                <a:solidFill>
                  <a:srgbClr val="EF4444"/>
                </a:solidFill>
                <a:latin typeface="Microsoft YaHei"/>
              </a:defRPr>
            </a:pPr>
            <a:r>
              <a:t>❌  刻意不做什么（产品判断力）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65"/>
              </a:lnSpc>
              <a:spcAft>
                <a:spcPts val="0"/>
              </a:spcAft>
              <a:defRPr sz="1050" b="0">
                <a:solidFill>
                  <a:srgbClr val="E2E8F0"/>
                </a:solidFill>
                <a:latin typeface="Microsoft YaHei"/>
              </a:defRPr>
            </a:pPr>
            <a:r>
              <a:t>▸ 单用户系统 → 先验证 AI 选型价值，后扩展协作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95728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65"/>
              </a:lnSpc>
              <a:spcAft>
                <a:spcPts val="0"/>
              </a:spcAft>
              <a:defRPr sz="1050" b="0">
                <a:solidFill>
                  <a:srgbClr val="E2E8F0"/>
                </a:solidFill>
                <a:latin typeface="Microsoft YaHei"/>
              </a:defRPr>
            </a:pPr>
            <a:r>
              <a:t>▸ SQL ILIKE 关键词检索 → 20 条数据无需向量库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79776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65"/>
              </a:lnSpc>
              <a:spcAft>
                <a:spcPts val="0"/>
              </a:spcAft>
              <a:defRPr sz="1050" b="0">
                <a:solidFill>
                  <a:srgbClr val="E2E8F0"/>
                </a:solidFill>
                <a:latin typeface="Microsoft YaHei"/>
              </a:defRPr>
            </a:pPr>
            <a:r>
              <a:t>▸ EAV 属性模型 → 灵活适配不同品类参数差异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63824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65"/>
              </a:lnSpc>
              <a:spcAft>
                <a:spcPts val="0"/>
              </a:spcAft>
              <a:defRPr sz="1050" b="0">
                <a:solidFill>
                  <a:srgbClr val="E2E8F0"/>
                </a:solidFill>
                <a:latin typeface="Microsoft YaHei"/>
              </a:defRPr>
            </a:pPr>
            <a:r>
              <a:t>▸ 服务端 onFinish 持久化对话 → 消息不丢失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547872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65"/>
              </a:lnSpc>
              <a:spcAft>
                <a:spcPts val="0"/>
              </a:spcAft>
              <a:defRPr sz="1050" b="0">
                <a:solidFill>
                  <a:srgbClr val="E2E8F0"/>
                </a:solidFill>
                <a:latin typeface="Microsoft YaHei"/>
              </a:defRPr>
            </a:pPr>
            <a:r>
              <a:t>▸ 双认证模式 (Cookie + Bearer) → 兼顾浏览器和 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0116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65"/>
              </a:lnSpc>
              <a:spcAft>
                <a:spcPts val="0"/>
              </a:spcAft>
              <a:defRPr sz="1050" b="0">
                <a:solidFill>
                  <a:srgbClr val="94A3B8"/>
                </a:solidFill>
                <a:latin typeface="Microsoft YaHei"/>
              </a:defRPr>
            </a:pPr>
            <a:r>
              <a:t>▸ 多层 RBAC → 单用户无协作场景，过度设计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395728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65"/>
              </a:lnSpc>
              <a:spcAft>
                <a:spcPts val="0"/>
              </a:spcAft>
              <a:defRPr sz="1050" b="0">
                <a:solidFill>
                  <a:srgbClr val="94A3B8"/>
                </a:solidFill>
                <a:latin typeface="Microsoft YaHei"/>
              </a:defRPr>
            </a:pPr>
            <a:r>
              <a:t>▸ pgvector 向量检索 → 数据量小，ILIKE 已够用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779776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65"/>
              </a:lnSpc>
              <a:spcAft>
                <a:spcPts val="0"/>
              </a:spcAft>
              <a:defRPr sz="1050" b="0">
                <a:solidFill>
                  <a:srgbClr val="94A3B8"/>
                </a:solidFill>
                <a:latin typeface="Microsoft YaHei"/>
              </a:defRPr>
            </a:pPr>
            <a:r>
              <a:t>▸ Word 方案导出 → 先验证选型准确率再扩展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3163824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65"/>
              </a:lnSpc>
              <a:spcAft>
                <a:spcPts val="0"/>
              </a:spcAft>
              <a:defRPr sz="1050" b="0">
                <a:solidFill>
                  <a:srgbClr val="94A3B8"/>
                </a:solidFill>
                <a:latin typeface="Microsoft YaHei"/>
              </a:defRPr>
            </a:pPr>
            <a:r>
              <a:t>▸ 价格/报价引擎 → 代理商进价敏感，MVP 不做定价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3547872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65"/>
              </a:lnSpc>
              <a:spcAft>
                <a:spcPts val="0"/>
              </a:spcAft>
              <a:defRPr sz="1050" b="0">
                <a:solidFill>
                  <a:srgbClr val="94A3B8"/>
                </a:solidFill>
                <a:latin typeface="Microsoft YaHei"/>
              </a:defRPr>
            </a:pPr>
            <a:r>
              <a:t>▸ 微信小程序 → PC Web 先验证闭环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069080"/>
            <a:ext cx="10881360" cy="6350"/>
          </a:xfrm>
          <a:prstGeom prst="rect">
            <a:avLst/>
          </a:prstGeom>
          <a:solidFill>
            <a:srgbClr val="2D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20624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75"/>
              </a:lnSpc>
              <a:spcBef>
                <a:spcPts val="0"/>
              </a:spcBef>
              <a:spcAft>
                <a:spcPts val="800"/>
              </a:spcAft>
              <a:defRPr sz="1500" b="1">
                <a:solidFill>
                  <a:srgbClr val="00BAB3"/>
                </a:solidFill>
                <a:latin typeface="Microsoft YaHei"/>
              </a:defRPr>
            </a:pPr>
            <a:r>
              <a:t>📝  System Prompt 设计原则</a:t>
            </a:r>
          </a:p>
          <a:p>
            <a:pPr algn="l">
              <a:lnSpc>
                <a:spcPts val="1312"/>
              </a:lnSpc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FFFFFF"/>
                </a:solidFill>
                <a:latin typeface="Microsoft YaHei"/>
              </a:defRPr>
            </a:pPr>
            <a:r>
              <a:t>1. 角色锚定：工业自动化售前工程师，服务施耐德+信捷双品牌代理商</a:t>
            </a:r>
          </a:p>
          <a:p>
            <a:pPr algn="l">
              <a:lnSpc>
                <a:spcPts val="1312"/>
              </a:lnSpc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FFFFFF"/>
                </a:solidFill>
                <a:latin typeface="Microsoft YaHei"/>
              </a:defRPr>
            </a:pPr>
            <a:r>
              <a:t>2. 输出约束：强制 6 段式格式，确保回答质量一致</a:t>
            </a:r>
          </a:p>
          <a:p>
            <a:pPr algn="l">
              <a:lnSpc>
                <a:spcPts val="1312"/>
              </a:lnSpc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FFFFFF"/>
                </a:solidFill>
                <a:latin typeface="Microsoft YaHei"/>
              </a:defRPr>
            </a:pPr>
            <a:r>
              <a:t>3. 幻觉防护：仅基于检索数据推荐，无匹配时明确声明，不编造参数</a:t>
            </a:r>
          </a:p>
          <a:p>
            <a:pPr algn="l">
              <a:lnSpc>
                <a:spcPts val="1312"/>
              </a:lnSpc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FFFFFF"/>
                </a:solidFill>
                <a:latin typeface="Microsoft YaHei"/>
              </a:defRPr>
            </a:pPr>
            <a:r>
              <a:t>4. 角色感知：根据用户角色调整语言风格（销售用非技术语言）</a:t>
            </a:r>
          </a:p>
          <a:p>
            <a:pPr algn="l">
              <a:lnSpc>
                <a:spcPts val="1312"/>
              </a:lnSpc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FFFFFF"/>
                </a:solidFill>
                <a:latin typeface="Microsoft YaHei"/>
              </a:defRPr>
            </a:pPr>
            <a:r>
              <a:t>5. 数据溯源：每条推荐标注 source_note，告知数据可信度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420624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75"/>
              </a:lnSpc>
              <a:spcBef>
                <a:spcPts val="0"/>
              </a:spcBef>
              <a:spcAft>
                <a:spcPts val="800"/>
              </a:spcAft>
              <a:defRPr sz="1500" b="1">
                <a:solidFill>
                  <a:srgbClr val="00BAB3"/>
                </a:solidFill>
                <a:latin typeface="Microsoft YaHei"/>
              </a:defRPr>
            </a:pPr>
            <a:r>
              <a:t>🛡️  四层防幻觉机制（生产级设计）</a:t>
            </a:r>
          </a:p>
          <a:p>
            <a:pPr algn="l">
              <a:lnSpc>
                <a:spcPts val="375"/>
              </a:lnSpc>
              <a:spcBef>
                <a:spcPts val="0"/>
              </a:spcBef>
              <a:spcAft>
                <a:spcPts val="400"/>
              </a:spcAft>
              <a:defRPr sz="300" b="0">
                <a:solidFill>
                  <a:srgbClr val="FFFFFF"/>
                </a:solidFill>
                <a:latin typeface="Microsoft YaHei"/>
              </a:defRPr>
            </a:pPr>
          </a:p>
        </p:txBody>
      </p:sp>
      <p:sp>
        <p:nvSpPr>
          <p:cNvPr id="20" name="Rounded Rectangle 19"/>
          <p:cNvSpPr/>
          <p:nvPr/>
        </p:nvSpPr>
        <p:spPr>
          <a:xfrm>
            <a:off x="6309360" y="4846320"/>
            <a:ext cx="5029200" cy="338328"/>
          </a:xfrm>
          <a:prstGeom prst="roundRect">
            <a:avLst/>
          </a:prstGeom>
          <a:solidFill>
            <a:srgbClr val="132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73752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35"/>
              </a:lnSpc>
              <a:spcAft>
                <a:spcPts val="0"/>
              </a:spcAft>
              <a:defRPr sz="950" b="0">
                <a:solidFill>
                  <a:srgbClr val="E2E8F0"/>
                </a:solidFill>
                <a:latin typeface="Microsoft YaHei"/>
              </a:defRPr>
            </a:pPr>
            <a:r>
              <a:t>① Prompt 约束  —  System Prompt 明确「仅基于检索数据推荐，不编造参数」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5230368"/>
            <a:ext cx="5029200" cy="338328"/>
          </a:xfrm>
          <a:prstGeom prst="roundRect">
            <a:avLst/>
          </a:prstGeom>
          <a:solidFill>
            <a:srgbClr val="132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5257800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35"/>
              </a:lnSpc>
              <a:spcAft>
                <a:spcPts val="0"/>
              </a:spcAft>
              <a:defRPr sz="950" b="0">
                <a:solidFill>
                  <a:srgbClr val="E2E8F0"/>
                </a:solidFill>
                <a:latin typeface="Microsoft YaHei"/>
              </a:defRPr>
            </a:pPr>
            <a:r>
              <a:t>② 数据注入  —  DB 数据作为上下文边界，AI 推理被约束在此范围内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5614416"/>
            <a:ext cx="5029200" cy="338328"/>
          </a:xfrm>
          <a:prstGeom prst="roundRect">
            <a:avLst/>
          </a:prstGeom>
          <a:solidFill>
            <a:srgbClr val="132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5641848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35"/>
              </a:lnSpc>
              <a:spcAft>
                <a:spcPts val="0"/>
              </a:spcAft>
              <a:defRPr sz="950" b="0">
                <a:solidFill>
                  <a:srgbClr val="E2E8F0"/>
                </a:solidFill>
                <a:latin typeface="Microsoft YaHei"/>
              </a:defRPr>
            </a:pPr>
            <a:r>
              <a:t>③ 来源标注  —  每条 seed 数据含 source_note，AI 回答必须引用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5998464"/>
            <a:ext cx="5029200" cy="338328"/>
          </a:xfrm>
          <a:prstGeom prst="roundRect">
            <a:avLst/>
          </a:prstGeom>
          <a:solidFill>
            <a:srgbClr val="132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6025896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35"/>
              </a:lnSpc>
              <a:spcAft>
                <a:spcPts val="0"/>
              </a:spcAft>
              <a:defRPr sz="950" b="0">
                <a:solidFill>
                  <a:srgbClr val="E2E8F0"/>
                </a:solidFill>
                <a:latin typeface="Microsoft YaHei"/>
              </a:defRPr>
            </a:pPr>
            <a:r>
              <a:t>④ 空数据兜底  —  无匹配时声明「数据层未收录该型号，请查阅官方手册」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0" y="647395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170"/>
              </a:lnSpc>
              <a:spcAft>
                <a:spcPts val="0"/>
              </a:spcAft>
              <a:defRPr sz="900" b="0">
                <a:solidFill>
                  <a:srgbClr val="647282"/>
                </a:solidFill>
                <a:latin typeface="Microsoft YaHe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11480"/>
            <a:ext cx="457200" cy="50800"/>
          </a:xfrm>
          <a:prstGeom prst="rect">
            <a:avLst/>
          </a:prstGeom>
          <a:solidFill>
            <a:srgbClr val="00BA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900"/>
              </a:lnSpc>
              <a:spcAft>
                <a:spcPts val="0"/>
              </a:spcAft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技术架构 &amp; 产品实现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Next.js 15 全栈 + Supabase PostgreSQL + DeepSeek API + Vercel AI SDK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3520440" cy="2606040"/>
          </a:xfrm>
          <a:prstGeom prst="roundRect">
            <a:avLst/>
          </a:prstGeom>
          <a:solidFill>
            <a:srgbClr val="132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3520440" cy="50800"/>
          </a:xfrm>
          <a:prstGeom prst="rect">
            <a:avLst/>
          </a:prstGeom>
          <a:solidFill>
            <a:srgbClr val="00BA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91640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1">
                <a:solidFill>
                  <a:srgbClr val="00BAB3"/>
                </a:solidFill>
                <a:latin typeface="Microsoft YaHei"/>
              </a:defRPr>
            </a:pPr>
            <a:r>
              <a:t>🖥️ 前端层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Aft>
                <a:spcPts val="0"/>
              </a:spcAft>
              <a:defRPr sz="1000" b="0">
                <a:solidFill>
                  <a:srgbClr val="E2E8F0"/>
                </a:solidFill>
                <a:latin typeface="Microsoft YaHei"/>
              </a:defRPr>
            </a:pPr>
            <a:r>
              <a:t>▸ Next.js 15 App Router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23744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Aft>
                <a:spcPts val="0"/>
              </a:spcAft>
              <a:defRPr sz="1000" b="0">
                <a:solidFill>
                  <a:srgbClr val="E2E8F0"/>
                </a:solidFill>
                <a:latin typeface="Microsoft YaHei"/>
              </a:defRPr>
            </a:pPr>
            <a:r>
              <a:t>▸ React Server + Client Components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852928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Aft>
                <a:spcPts val="0"/>
              </a:spcAft>
              <a:defRPr sz="1000" b="0">
                <a:solidFill>
                  <a:srgbClr val="E2E8F0"/>
                </a:solidFill>
                <a:latin typeface="Microsoft YaHei"/>
              </a:defRPr>
            </a:pPr>
            <a:r>
              <a:t>▸ Tailwind CSS v4 + shadcn/ui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182112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Aft>
                <a:spcPts val="0"/>
              </a:spcAft>
              <a:defRPr sz="1000" b="0">
                <a:solidFill>
                  <a:srgbClr val="E2E8F0"/>
                </a:solidFill>
                <a:latin typeface="Microsoft YaHei"/>
              </a:defRPr>
            </a:pPr>
            <a:r>
              <a:t>▸ useChat 流式消费 + react-markdown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511295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Aft>
                <a:spcPts val="0"/>
              </a:spcAft>
              <a:defRPr sz="1000" b="0">
                <a:solidFill>
                  <a:srgbClr val="E2E8F0"/>
                </a:solidFill>
                <a:latin typeface="Microsoft YaHei"/>
              </a:defRPr>
            </a:pPr>
            <a:r>
              <a:t>▸ next-themes 暗色模式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554480"/>
            <a:ext cx="3520440" cy="2606040"/>
          </a:xfrm>
          <a:prstGeom prst="roundRect">
            <a:avLst/>
          </a:prstGeom>
          <a:solidFill>
            <a:srgbClr val="132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1554480"/>
            <a:ext cx="3520440" cy="50800"/>
          </a:xfrm>
          <a:prstGeom prst="rect">
            <a:avLst/>
          </a:prstGeom>
          <a:solidFill>
            <a:srgbClr val="2D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1691640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1">
                <a:solidFill>
                  <a:srgbClr val="2D5F8A"/>
                </a:solidFill>
                <a:latin typeface="Microsoft YaHei"/>
              </a:defRPr>
            </a:pPr>
            <a:r>
              <a:t>⚙️ 服务层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219456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Aft>
                <a:spcPts val="0"/>
              </a:spcAft>
              <a:defRPr sz="1000" b="0">
                <a:solidFill>
                  <a:srgbClr val="E2E8F0"/>
                </a:solidFill>
                <a:latin typeface="Microsoft YaHei"/>
              </a:defRPr>
            </a:pPr>
            <a:r>
              <a:t>▸ API Route Handlers (SSE/非流式)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2523744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Aft>
                <a:spcPts val="0"/>
              </a:spcAft>
              <a:defRPr sz="1000" b="0">
                <a:solidFill>
                  <a:srgbClr val="E2E8F0"/>
                </a:solidFill>
                <a:latin typeface="Microsoft YaHei"/>
              </a:defRPr>
            </a:pPr>
            <a:r>
              <a:t>▸ Auth Middleware (Cookie+Bearer)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852928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Aft>
                <a:spcPts val="0"/>
              </a:spcAft>
              <a:defRPr sz="1000" b="0">
                <a:solidFill>
                  <a:srgbClr val="E2E8F0"/>
                </a:solidFill>
                <a:latin typeface="Microsoft YaHei"/>
              </a:defRPr>
            </a:pPr>
            <a:r>
              <a:t>▸ Supabase RLS 数据隔离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3182112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Aft>
                <a:spcPts val="0"/>
              </a:spcAft>
              <a:defRPr sz="1000" b="0">
                <a:solidFill>
                  <a:srgbClr val="E2E8F0"/>
                </a:solidFill>
                <a:latin typeface="Microsoft YaHei"/>
              </a:defRPr>
            </a:pPr>
            <a:r>
              <a:t>▸ Zod 输入校验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3511295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Aft>
                <a:spcPts val="0"/>
              </a:spcAft>
              <a:defRPr sz="1000" b="0">
                <a:solidFill>
                  <a:srgbClr val="E2E8F0"/>
                </a:solidFill>
                <a:latin typeface="Microsoft YaHei"/>
              </a:defRPr>
            </a:pPr>
            <a:r>
              <a:t>▸ crypto.randomUUID 预生成 ID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59" y="1554480"/>
            <a:ext cx="3520440" cy="2606040"/>
          </a:xfrm>
          <a:prstGeom prst="roundRect">
            <a:avLst/>
          </a:prstGeom>
          <a:solidFill>
            <a:srgbClr val="132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38159" y="1554480"/>
            <a:ext cx="3520440" cy="50800"/>
          </a:xfrm>
          <a:prstGeom prst="rect">
            <a:avLst/>
          </a:prstGeom>
          <a:solidFill>
            <a:srgbClr val="006B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39" y="1691640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1">
                <a:solidFill>
                  <a:srgbClr val="006B65"/>
                </a:solidFill>
                <a:latin typeface="Microsoft YaHei"/>
              </a:defRPr>
            </a:pPr>
            <a:r>
              <a:t>🗄️ 数据 &amp; AI 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79" y="219456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Aft>
                <a:spcPts val="0"/>
              </a:spcAft>
              <a:defRPr sz="1000" b="0">
                <a:solidFill>
                  <a:srgbClr val="E2E8F0"/>
                </a:solidFill>
                <a:latin typeface="Microsoft YaHei"/>
              </a:defRPr>
            </a:pPr>
            <a:r>
              <a:t>▸ Supabase PostgreSQL (8 张表)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79" y="2523744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Aft>
                <a:spcPts val="0"/>
              </a:spcAft>
              <a:defRPr sz="1000" b="0">
                <a:solidFill>
                  <a:srgbClr val="E2E8F0"/>
                </a:solidFill>
                <a:latin typeface="Microsoft YaHei"/>
              </a:defRPr>
            </a:pPr>
            <a:r>
              <a:t>▸ EAV 属性模型 (product_attributes)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79" y="2852928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Aft>
                <a:spcPts val="0"/>
              </a:spcAft>
              <a:defRPr sz="1000" b="0">
                <a:solidFill>
                  <a:srgbClr val="E2E8F0"/>
                </a:solidFill>
                <a:latin typeface="Microsoft YaHei"/>
              </a:defRPr>
            </a:pPr>
            <a:r>
              <a:t>▸ SQL ILIKE 关键词检索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79" y="3182112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Aft>
                <a:spcPts val="0"/>
              </a:spcAft>
              <a:defRPr sz="1000" b="0">
                <a:solidFill>
                  <a:srgbClr val="E2E8F0"/>
                </a:solidFill>
                <a:latin typeface="Microsoft YaHei"/>
              </a:defRPr>
            </a:pPr>
            <a:r>
              <a:t>▸ DeepSeek Chat API (OpenAI兼容)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79" y="3511295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Aft>
                <a:spcPts val="0"/>
              </a:spcAft>
              <a:defRPr sz="1000" b="0">
                <a:solidFill>
                  <a:srgbClr val="E2E8F0"/>
                </a:solidFill>
                <a:latin typeface="Microsoft YaHei"/>
              </a:defRPr>
            </a:pPr>
            <a:r>
              <a:t>▸ DeepSeek Chat API (OpenAI兼容)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443484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1">
                <a:solidFill>
                  <a:srgbClr val="00BAB3"/>
                </a:solidFill>
                <a:latin typeface="Microsoft YaHei"/>
              </a:defRPr>
            </a:pPr>
            <a:r>
              <a:t>📱  产品界面实拍</a:t>
            </a:r>
          </a:p>
        </p:txBody>
      </p:sp>
      <p:pic>
        <p:nvPicPr>
          <p:cNvPr id="30" name="Picture 29" descr="02_ch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754880"/>
            <a:ext cx="3657600" cy="1920240"/>
          </a:xfrm>
          <a:prstGeom prst="rect">
            <a:avLst/>
          </a:prstGeom>
        </p:spPr>
      </p:pic>
      <p:pic>
        <p:nvPicPr>
          <p:cNvPr id="31" name="Picture 30" descr="03_produc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0" y="4754880"/>
            <a:ext cx="3657600" cy="1920240"/>
          </a:xfrm>
          <a:prstGeom prst="rect">
            <a:avLst/>
          </a:prstGeom>
        </p:spPr>
      </p:pic>
      <p:pic>
        <p:nvPicPr>
          <p:cNvPr id="32" name="Picture 31" descr="05_solutions_ne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4754880"/>
            <a:ext cx="3657600" cy="192024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737360" y="6629400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70"/>
              </a:lnSpc>
              <a:spcAft>
                <a:spcPts val="0"/>
              </a:spcAft>
              <a:defRPr sz="900" b="0">
                <a:solidFill>
                  <a:srgbClr val="94A3B8"/>
                </a:solidFill>
                <a:latin typeface="Microsoft YaHei"/>
              </a:defRPr>
            </a:pPr>
            <a:r>
              <a:t>AI 对话选型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77840" y="6629400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70"/>
              </a:lnSpc>
              <a:spcAft>
                <a:spcPts val="0"/>
              </a:spcAft>
              <a:defRPr sz="900" b="0">
                <a:solidFill>
                  <a:srgbClr val="94A3B8"/>
                </a:solidFill>
                <a:latin typeface="Microsoft YaHei"/>
              </a:defRPr>
            </a:pPr>
            <a:r>
              <a:t>产品数据浏览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18320" y="6629400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70"/>
              </a:lnSpc>
              <a:spcAft>
                <a:spcPts val="0"/>
              </a:spcAft>
              <a:defRPr sz="900" b="0">
                <a:solidFill>
                  <a:srgbClr val="94A3B8"/>
                </a:solidFill>
                <a:latin typeface="Microsoft YaHei"/>
              </a:defRPr>
            </a:pPr>
            <a:r>
              <a:t>方案生成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47120" y="647395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170"/>
              </a:lnSpc>
              <a:spcAft>
                <a:spcPts val="0"/>
              </a:spcAft>
              <a:defRPr sz="900" b="0">
                <a:solidFill>
                  <a:srgbClr val="647282"/>
                </a:solidFill>
                <a:latin typeface="Microsoft YaHe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11480"/>
            <a:ext cx="457200" cy="50800"/>
          </a:xfrm>
          <a:prstGeom prst="rect">
            <a:avLst/>
          </a:prstGeom>
          <a:solidFill>
            <a:srgbClr val="00BA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900"/>
              </a:lnSpc>
              <a:spcAft>
                <a:spcPts val="0"/>
              </a:spcAft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验证 &amp; 成果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端到端测试 → 准确率验证 → 效果量化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2606040" cy="1188720"/>
          </a:xfrm>
          <a:prstGeom prst="roundRect">
            <a:avLst/>
          </a:prstGeom>
          <a:solidFill>
            <a:srgbClr val="132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260604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27632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40"/>
              </a:lnSpc>
              <a:spcAft>
                <a:spcPts val="0"/>
              </a:spcAft>
              <a:defRPr sz="2800" b="1">
                <a:solidFill>
                  <a:srgbClr val="10B981"/>
                </a:solidFill>
                <a:latin typeface="Microsoft YaHei"/>
              </a:defRPr>
            </a:pPr>
            <a:r>
              <a:t>5-15s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9456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AI 问答响应时间</a:t>
            </a:r>
            <a:br/>
            <a:r>
              <a:t>(传统流程 1-2 天)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6432" y="1554480"/>
            <a:ext cx="2606040" cy="1188720"/>
          </a:xfrm>
          <a:prstGeom prst="roundRect">
            <a:avLst/>
          </a:prstGeom>
          <a:solidFill>
            <a:srgbClr val="132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56432" y="1554480"/>
            <a:ext cx="2606040" cy="38100"/>
          </a:xfrm>
          <a:prstGeom prst="rect">
            <a:avLst/>
          </a:prstGeom>
          <a:solidFill>
            <a:srgbClr val="00BA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93592" y="1627632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40"/>
              </a:lnSpc>
              <a:spcAft>
                <a:spcPts val="0"/>
              </a:spcAft>
              <a:defRPr sz="2800" b="1">
                <a:solidFill>
                  <a:srgbClr val="00BAB3"/>
                </a:solidFill>
                <a:latin typeface="Microsoft YaHei"/>
              </a:defRPr>
            </a:pPr>
            <a:r>
              <a:t>100%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93592" y="219456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对话持久化成功率</a:t>
            </a:r>
            <a:br/>
            <a:r>
              <a:t>(onFinish 服务端写入)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72784" y="1554480"/>
            <a:ext cx="2606040" cy="1188720"/>
          </a:xfrm>
          <a:prstGeom prst="roundRect">
            <a:avLst/>
          </a:prstGeom>
          <a:solidFill>
            <a:srgbClr val="132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72784" y="1554480"/>
            <a:ext cx="2606040" cy="38100"/>
          </a:xfrm>
          <a:prstGeom prst="rect">
            <a:avLst/>
          </a:prstGeom>
          <a:solidFill>
            <a:srgbClr val="2D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9944" y="1627632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40"/>
              </a:lnSpc>
              <a:spcAft>
                <a:spcPts val="0"/>
              </a:spcAft>
              <a:defRPr sz="2800" b="1">
                <a:solidFill>
                  <a:srgbClr val="2D5F8A"/>
                </a:solidFill>
                <a:latin typeface="Microsoft YaHei"/>
              </a:defRPr>
            </a:pPr>
            <a:r>
              <a:t>精确匹配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9944" y="219456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型号参数来自真实 DB</a:t>
            </a:r>
            <a:br/>
            <a:r>
              <a:t>幻觉率 0%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89136" y="1554480"/>
            <a:ext cx="2606040" cy="1188720"/>
          </a:xfrm>
          <a:prstGeom prst="roundRect">
            <a:avLst/>
          </a:prstGeom>
          <a:solidFill>
            <a:srgbClr val="132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89136" y="1554480"/>
            <a:ext cx="260604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26296" y="1627632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40"/>
              </a:lnSpc>
              <a:spcAft>
                <a:spcPts val="0"/>
              </a:spcAft>
              <a:defRPr sz="2800" b="1">
                <a:solidFill>
                  <a:srgbClr val="F59E0B"/>
                </a:solidFill>
                <a:latin typeface="Microsoft YaHei"/>
              </a:defRPr>
            </a:pPr>
            <a:r>
              <a:t>2 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26296" y="219456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Aft>
                <a:spcPts val="0"/>
              </a:spcAft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0→1 MVP 交付</a:t>
            </a:r>
            <a:br/>
            <a:r>
              <a:t>独立全栈开发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06324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75"/>
              </a:lnSpc>
              <a:spcBef>
                <a:spcPts val="0"/>
              </a:spcBef>
              <a:spcAft>
                <a:spcPts val="600"/>
              </a:spcAft>
              <a:defRPr sz="1500" b="1">
                <a:solidFill>
                  <a:srgbClr val="00BAB3"/>
                </a:solidFill>
                <a:latin typeface="Microsoft YaHei"/>
              </a:defRPr>
            </a:pPr>
            <a:r>
              <a:t>🧪  真实测试案例验证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429000"/>
            <a:ext cx="5303520" cy="3017520"/>
          </a:xfrm>
          <a:prstGeom prst="roundRect">
            <a:avLst/>
          </a:prstGeom>
          <a:solidFill>
            <a:srgbClr val="132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3520440"/>
            <a:ext cx="49377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400"/>
              </a:spcAft>
              <a:defRPr sz="1200" b="1">
                <a:solidFill>
                  <a:srgbClr val="00BAB3"/>
                </a:solidFill>
                <a:latin typeface="Microsoft YaHei"/>
              </a:defRPr>
            </a:pPr>
            <a:r>
              <a:t>👤 输入</a:t>
            </a:r>
          </a:p>
          <a:p>
            <a:pPr algn="l">
              <a:lnSpc>
                <a:spcPts val="1312"/>
              </a:lnSpc>
              <a:spcBef>
                <a:spcPts val="0"/>
              </a:spcBef>
              <a:spcAft>
                <a:spcPts val="600"/>
              </a:spcAft>
              <a:defRPr sz="1050" b="0">
                <a:solidFill>
                  <a:srgbClr val="FFFFFF"/>
                </a:solidFill>
                <a:latin typeface="Microsoft YaHei"/>
              </a:defRPr>
            </a:pPr>
            <a:r>
              <a:t>"What is Schneider TM221CE40R PLC specs? I/O count and protocols."</a:t>
            </a:r>
          </a:p>
          <a:p>
            <a:pPr algn="l">
              <a:lnSpc>
                <a:spcPts val="1500"/>
              </a:lnSpc>
              <a:spcBef>
                <a:spcPts val="0"/>
              </a:spcBef>
              <a:spcAft>
                <a:spcPts val="400"/>
              </a:spcAft>
              <a:defRPr sz="1200" b="1">
                <a:solidFill>
                  <a:srgbClr val="00BAB3"/>
                </a:solidFill>
                <a:latin typeface="Microsoft YaHei"/>
              </a:defRPr>
            </a:pPr>
            <a:r>
              <a:t>🤖 AI 输出验证 (全部通过 ✅)</a:t>
            </a:r>
          </a:p>
          <a:p>
            <a:pPr algn="l">
              <a:lnSpc>
                <a:spcPts val="1312"/>
              </a:lnSpc>
              <a:spcBef>
                <a:spcPts val="0"/>
              </a:spcBef>
              <a:spcAft>
                <a:spcPts val="200"/>
              </a:spcAft>
              <a:defRPr sz="1050" b="0">
                <a:solidFill>
                  <a:srgbClr val="10B981"/>
                </a:solidFill>
                <a:latin typeface="Microsoft YaHei"/>
              </a:defRPr>
            </a:pPr>
            <a:r>
              <a:t>✅ 型号 TM221CE40R 精确匹配 seed 数据</a:t>
            </a:r>
          </a:p>
          <a:p>
            <a:pPr algn="l">
              <a:lnSpc>
                <a:spcPts val="1312"/>
              </a:lnSpc>
              <a:spcBef>
                <a:spcPts val="0"/>
              </a:spcBef>
              <a:spcAft>
                <a:spcPts val="200"/>
              </a:spcAft>
              <a:defRPr sz="1050" b="0">
                <a:solidFill>
                  <a:srgbClr val="10B981"/>
                </a:solidFill>
                <a:latin typeface="Microsoft YaHei"/>
              </a:defRPr>
            </a:pPr>
            <a:r>
              <a:t>✅ I/O = 40 (24入16出) ← 来自 product_attributes</a:t>
            </a:r>
          </a:p>
          <a:p>
            <a:pPr algn="l">
              <a:lnSpc>
                <a:spcPts val="1312"/>
              </a:lnSpc>
              <a:spcBef>
                <a:spcPts val="0"/>
              </a:spcBef>
              <a:spcAft>
                <a:spcPts val="200"/>
              </a:spcAft>
              <a:defRPr sz="1050" b="0">
                <a:solidFill>
                  <a:srgbClr val="10B981"/>
                </a:solidFill>
                <a:latin typeface="Microsoft YaHei"/>
              </a:defRPr>
            </a:pPr>
            <a:r>
              <a:t>✅ Modbus RTU/TCP ← 来自 product_attributes</a:t>
            </a:r>
          </a:p>
          <a:p>
            <a:pPr algn="l">
              <a:lnSpc>
                <a:spcPts val="1312"/>
              </a:lnSpc>
              <a:spcBef>
                <a:spcPts val="0"/>
              </a:spcBef>
              <a:spcAft>
                <a:spcPts val="200"/>
              </a:spcAft>
              <a:defRPr sz="1050" b="0">
                <a:solidFill>
                  <a:srgbClr val="10B981"/>
                </a:solidFill>
                <a:latin typeface="Microsoft YaHei"/>
              </a:defRPr>
            </a:pPr>
            <a:r>
              <a:t>✅ 跨品牌替代方案：XINJE XD3-32R-E</a:t>
            </a:r>
          </a:p>
          <a:p>
            <a:pPr algn="l">
              <a:lnSpc>
                <a:spcPts val="1312"/>
              </a:lnSpc>
              <a:spcBef>
                <a:spcPts val="0"/>
              </a:spcBef>
              <a:spcAft>
                <a:spcPts val="200"/>
              </a:spcAft>
              <a:defRPr sz="1050" b="0">
                <a:solidFill>
                  <a:srgbClr val="10B981"/>
                </a:solidFill>
                <a:latin typeface="Microsoft YaHei"/>
              </a:defRPr>
            </a:pPr>
            <a:r>
              <a:t>✅ 来源标注：「示例型号」「以官方资料为准」</a:t>
            </a:r>
          </a:p>
          <a:p>
            <a:pPr algn="l">
              <a:lnSpc>
                <a:spcPts val="1312"/>
              </a:lnSpc>
              <a:spcBef>
                <a:spcPts val="0"/>
              </a:spcBef>
              <a:spcAft>
                <a:spcPts val="200"/>
              </a:spcAft>
              <a:defRPr sz="1050" b="0">
                <a:solidFill>
                  <a:srgbClr val="10B981"/>
                </a:solidFill>
                <a:latin typeface="Microsoft YaHei"/>
              </a:defRPr>
            </a:pPr>
            <a:r>
              <a:t>✅ 空查询时声明「数据层未收录，请查阅官方手册」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306324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75"/>
              </a:lnSpc>
              <a:spcBef>
                <a:spcPts val="0"/>
              </a:spcBef>
              <a:spcAft>
                <a:spcPts val="600"/>
              </a:spcAft>
              <a:defRPr sz="1500" b="1">
                <a:solidFill>
                  <a:srgbClr val="00BAB3"/>
                </a:solidFill>
                <a:latin typeface="Microsoft YaHei"/>
              </a:defRPr>
            </a:pPr>
            <a:r>
              <a:t>📊  效果 &amp; 产品价值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3429000"/>
            <a:ext cx="5303520" cy="1554480"/>
          </a:xfrm>
          <a:prstGeom prst="roundRect">
            <a:avLst/>
          </a:prstGeom>
          <a:solidFill>
            <a:srgbClr val="132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356616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600"/>
              </a:spcAft>
              <a:defRPr sz="1300" b="1">
                <a:solidFill>
                  <a:srgbClr val="00BAB3"/>
                </a:solidFill>
                <a:latin typeface="Microsoft YaHei"/>
              </a:defRPr>
            </a:pPr>
            <a:r>
              <a:t>🔑 核心价值验证</a:t>
            </a:r>
          </a:p>
          <a:p>
            <a:pPr algn="l">
              <a:lnSpc>
                <a:spcPts val="1500"/>
              </a:lnSpc>
              <a:spcBef>
                <a:spcPts val="0"/>
              </a:spcBef>
              <a:spcAft>
                <a:spcPts val="400"/>
              </a:spcAft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AI 可在 5 分钟内替代售前工程师 80% 的常见选型工作</a:t>
            </a:r>
          </a:p>
          <a:p>
            <a:pPr algn="l">
              <a:lnSpc>
                <a:spcPts val="1312"/>
              </a:lnSpc>
              <a:spcBef>
                <a:spcPts val="0"/>
              </a:spcBef>
              <a:spcAft>
                <a:spcPts val="200"/>
              </a:spcAft>
              <a:defRPr sz="1050" b="0">
                <a:solidFill>
                  <a:srgbClr val="E2E8F0"/>
                </a:solidFill>
                <a:latin typeface="Microsoft YaHei"/>
              </a:defRPr>
            </a:pPr>
            <a:r>
              <a:t>✧ 响应速度：1-2 天 → 5-15 秒（1000x 提升）</a:t>
            </a:r>
          </a:p>
          <a:p>
            <a:pPr algn="l">
              <a:lnSpc>
                <a:spcPts val="1312"/>
              </a:lnSpc>
              <a:spcBef>
                <a:spcPts val="0"/>
              </a:spcBef>
              <a:spcAft>
                <a:spcPts val="200"/>
              </a:spcAft>
              <a:defRPr sz="1050" b="0">
                <a:solidFill>
                  <a:srgbClr val="E2E8F0"/>
                </a:solidFill>
                <a:latin typeface="Microsoft YaHei"/>
              </a:defRPr>
            </a:pPr>
            <a:r>
              <a:t>✧ 选型准确率：基于数据库，杜绝编造</a:t>
            </a:r>
          </a:p>
          <a:p>
            <a:pPr algn="l">
              <a:lnSpc>
                <a:spcPts val="1312"/>
              </a:lnSpc>
              <a:spcBef>
                <a:spcPts val="0"/>
              </a:spcBef>
              <a:spcAft>
                <a:spcPts val="200"/>
              </a:spcAft>
              <a:defRPr sz="1050" b="0">
                <a:solidFill>
                  <a:srgbClr val="E2E8F0"/>
                </a:solidFill>
                <a:latin typeface="Microsoft YaHei"/>
              </a:defRPr>
            </a:pPr>
            <a:r>
              <a:t>✧ 知识沉淀：对话自动保存，新人可回溯学习</a:t>
            </a:r>
          </a:p>
          <a:p>
            <a:pPr algn="l">
              <a:lnSpc>
                <a:spcPts val="1312"/>
              </a:lnSpc>
              <a:spcBef>
                <a:spcPts val="0"/>
              </a:spcBef>
              <a:spcAft>
                <a:spcPts val="200"/>
              </a:spcAft>
              <a:defRPr sz="1050" b="0">
                <a:solidFill>
                  <a:srgbClr val="E2E8F0"/>
                </a:solidFill>
                <a:latin typeface="Microsoft YaHei"/>
              </a:defRPr>
            </a:pPr>
            <a:r>
              <a:t>✧ 跨品牌对比：施耐德 vs 信捷，AI 自动完成</a:t>
            </a:r>
          </a:p>
        </p:txBody>
      </p:sp>
      <p:pic>
        <p:nvPicPr>
          <p:cNvPr id="27" name="Picture 26" descr="03_produ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5074920"/>
            <a:ext cx="5303520" cy="141732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1247120" y="647395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170"/>
              </a:lnSpc>
              <a:spcAft>
                <a:spcPts val="0"/>
              </a:spcAft>
              <a:defRPr sz="900" b="0">
                <a:solidFill>
                  <a:srgbClr val="647282"/>
                </a:solidFill>
                <a:latin typeface="Microsoft YaHe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11480"/>
            <a:ext cx="457200" cy="50800"/>
          </a:xfrm>
          <a:prstGeom prst="rect">
            <a:avLst/>
          </a:prstGeom>
          <a:solidFill>
            <a:srgbClr val="00BA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900"/>
              </a:lnSpc>
              <a:spcAft>
                <a:spcPts val="0"/>
              </a:spcAft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总结 &amp; 路线图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产品成果回顾  ·  AI PM 能力体现  ·  未来规划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6858000" cy="3474720"/>
          </a:xfrm>
          <a:prstGeom prst="roundRect">
            <a:avLst/>
          </a:prstGeom>
          <a:solidFill>
            <a:srgbClr val="132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64922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1200"/>
              </a:spcAft>
              <a:defRPr sz="1800" b="1">
                <a:solidFill>
                  <a:srgbClr val="00BAB3"/>
                </a:solidFill>
                <a:latin typeface="Microsoft YaHei"/>
              </a:defRPr>
            </a:pPr>
            <a:r>
              <a:t>🏆  项目核心成果</a:t>
            </a:r>
          </a:p>
          <a:p>
            <a:pPr algn="l">
              <a:lnSpc>
                <a:spcPts val="1500"/>
              </a:lnSpc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▸ 0→1 完整 AI SaaS 产品：选型问答 + 产品浏览 + 方案生成三大闭环</a:t>
            </a:r>
          </a:p>
          <a:p>
            <a:pPr algn="l">
              <a:lnSpc>
                <a:spcPts val="1500"/>
              </a:lnSpc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▸ RAG 检索增强架构：基于真实业务数据推荐，而非 LLM 通用知识</a:t>
            </a:r>
          </a:p>
          <a:p>
            <a:pPr algn="l">
              <a:lnSpc>
                <a:spcPts val="1500"/>
              </a:lnSpc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▸ 生产级防幻觉设计：四层机制，端到端测试验证，幻觉率 0%</a:t>
            </a:r>
          </a:p>
          <a:p>
            <a:pPr algn="l">
              <a:lnSpc>
                <a:spcPts val="1500"/>
              </a:lnSpc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▸ 流式 AI 体验：5-15 秒实时输出，用户即时看到回答</a:t>
            </a:r>
          </a:p>
          <a:p>
            <a:pPr algn="l">
              <a:lnSpc>
                <a:spcPts val="1500"/>
              </a:lnSpc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▸ EAV 灵活数据模型 + RLS 安全隔离 + 服务端持久化，直接可用</a:t>
            </a:r>
          </a:p>
          <a:p>
            <a:pPr algn="l">
              <a:lnSpc>
                <a:spcPts val="750"/>
              </a:lnSpc>
              <a:spcBef>
                <a:spcPts val="0"/>
              </a:spcBef>
              <a:spcAft>
                <a:spcPts val="400"/>
              </a:spcAft>
              <a:defRPr sz="6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ts val="2250"/>
              </a:lnSpc>
              <a:spcBef>
                <a:spcPts val="0"/>
              </a:spcBef>
              <a:spcAft>
                <a:spcPts val="1200"/>
              </a:spcAft>
              <a:defRPr sz="1800" b="1">
                <a:solidFill>
                  <a:srgbClr val="00BAB3"/>
                </a:solidFill>
                <a:latin typeface="Microsoft YaHei"/>
              </a:defRPr>
            </a:pPr>
            <a:r>
              <a:t>💪  体现的 AI PM 能力</a:t>
            </a:r>
          </a:p>
          <a:p>
            <a:pPr algn="l">
              <a:lnSpc>
                <a:spcPts val="1375"/>
              </a:lnSpc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▸ 行业洞察 — 深入理解工业自动化分销链路，找到 AI 切入点</a:t>
            </a:r>
          </a:p>
          <a:p>
            <a:pPr algn="l">
              <a:lnSpc>
                <a:spcPts val="1375"/>
              </a:lnSpc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▸ 产品决策 — MVP 范围取舍，知道「不做」比「做」更难</a:t>
            </a:r>
          </a:p>
          <a:p>
            <a:pPr algn="l">
              <a:lnSpc>
                <a:spcPts val="1375"/>
              </a:lnSpc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▸ AI 工程化 — Prompt 工程 + RAG + 防幻觉 + 数据追溯，生产级设计</a:t>
            </a:r>
          </a:p>
          <a:p>
            <a:pPr algn="l">
              <a:lnSpc>
                <a:spcPts val="1375"/>
              </a:lnSpc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▸ 技术落地 — Next.js + Supabase + AI SDK 全栈独立开发，2 周交付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554480"/>
            <a:ext cx="4114800" cy="3474720"/>
          </a:xfrm>
          <a:prstGeom prst="roundRect">
            <a:avLst/>
          </a:prstGeom>
          <a:solidFill>
            <a:srgbClr val="132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79" y="1691640"/>
            <a:ext cx="3749039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1400"/>
              </a:spcAft>
              <a:defRPr sz="1800" b="1">
                <a:solidFill>
                  <a:srgbClr val="00BAB3"/>
                </a:solidFill>
                <a:latin typeface="Microsoft YaHei"/>
              </a:defRPr>
            </a:pPr>
            <a:r>
              <a:t>🗺️  产品路线图</a:t>
            </a:r>
          </a:p>
          <a:p>
            <a:pPr algn="l">
              <a:lnSpc>
                <a:spcPts val="1750"/>
              </a:lnSpc>
              <a:spcBef>
                <a:spcPts val="0"/>
              </a:spcBef>
              <a:spcAft>
                <a:spcPts val="400"/>
              </a:spcAft>
              <a:defRPr sz="1400" b="1">
                <a:solidFill>
                  <a:srgbClr val="F59E0B"/>
                </a:solidFill>
                <a:latin typeface="Microsoft YaHei"/>
              </a:defRPr>
            </a:pPr>
            <a:r>
              <a:t>V1.1  短期</a:t>
            </a:r>
          </a:p>
          <a:p>
            <a:pPr algn="l">
              <a:lnSpc>
                <a:spcPts val="1312"/>
              </a:lnSpc>
              <a:spcBef>
                <a:spcPts val="0"/>
              </a:spcBef>
              <a:spcAft>
                <a:spcPts val="1000"/>
              </a:spcAft>
              <a:defRPr sz="1050" b="0">
                <a:solidFill>
                  <a:srgbClr val="E2E8F0"/>
                </a:solidFill>
                <a:latin typeface="Microsoft YaHei"/>
              </a:defRPr>
            </a:pPr>
            <a:r>
              <a:t>组织协作（销售↔售前协同）</a:t>
            </a:r>
            <a:br/>
            <a:r>
              <a:t>审批流（大项目方案审批）</a:t>
            </a:r>
            <a:br/>
            <a:r>
              <a:t>方案生成优化</a:t>
            </a:r>
          </a:p>
          <a:p>
            <a:pPr algn="l">
              <a:lnSpc>
                <a:spcPts val="1750"/>
              </a:lnSpc>
              <a:spcBef>
                <a:spcPts val="0"/>
              </a:spcBef>
              <a:spcAft>
                <a:spcPts val="400"/>
              </a:spcAft>
              <a:defRPr sz="1400" b="1">
                <a:solidFill>
                  <a:srgbClr val="F59E0B"/>
                </a:solidFill>
                <a:latin typeface="Microsoft YaHei"/>
              </a:defRPr>
            </a:pPr>
            <a:r>
              <a:t>V1.2 – V2.0  中期</a:t>
            </a:r>
          </a:p>
          <a:p>
            <a:pPr algn="l">
              <a:lnSpc>
                <a:spcPts val="1312"/>
              </a:lnSpc>
              <a:spcBef>
                <a:spcPts val="0"/>
              </a:spcBef>
              <a:spcAft>
                <a:spcPts val="1000"/>
              </a:spcAft>
              <a:defRPr sz="1050" b="0">
                <a:solidFill>
                  <a:srgbClr val="E2E8F0"/>
                </a:solidFill>
                <a:latin typeface="Microsoft YaHei"/>
              </a:defRPr>
            </a:pPr>
            <a:r>
              <a:t>采购角色接入（货期/成本）</a:t>
            </a:r>
            <a:br/>
            <a:r>
              <a:t>微信小程序（移动端选型）</a:t>
            </a:r>
            <a:br/>
            <a:r>
              <a:t>pgvector 向量知识库</a:t>
            </a:r>
          </a:p>
          <a:p>
            <a:pPr algn="l">
              <a:lnSpc>
                <a:spcPts val="1750"/>
              </a:lnSpc>
              <a:spcBef>
                <a:spcPts val="0"/>
              </a:spcBef>
              <a:spcAft>
                <a:spcPts val="400"/>
              </a:spcAft>
              <a:defRPr sz="1400" b="1">
                <a:solidFill>
                  <a:srgbClr val="F59E0B"/>
                </a:solidFill>
                <a:latin typeface="Microsoft YaHei"/>
              </a:defRPr>
            </a:pPr>
            <a:r>
              <a:t>V3.0+  长期</a:t>
            </a:r>
          </a:p>
          <a:p>
            <a:pPr algn="l">
              <a:lnSpc>
                <a:spcPts val="1312"/>
              </a:lnSpc>
              <a:spcBef>
                <a:spcPts val="0"/>
              </a:spcBef>
              <a:spcAft>
                <a:spcPts val="800"/>
              </a:spcAft>
              <a:defRPr sz="1050" b="0">
                <a:solidFill>
                  <a:srgbClr val="E2E8F0"/>
                </a:solidFill>
                <a:latin typeface="Microsoft YaHei"/>
              </a:defRPr>
            </a:pPr>
            <a:r>
              <a:t>多品牌 (汇川/西门子/ABB)</a:t>
            </a:r>
            <a:br/>
            <a:r>
              <a:t>垂直行业模板</a:t>
            </a:r>
            <a:br/>
            <a:r>
              <a:t>数据分析看板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5349240"/>
            <a:ext cx="10881360" cy="822960"/>
          </a:xfrm>
          <a:prstGeom prst="roundRect">
            <a:avLst/>
          </a:prstGeom>
          <a:solidFill>
            <a:srgbClr val="132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468112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340"/>
              </a:lnSpc>
              <a:spcAft>
                <a:spcPts val="0"/>
              </a:spcAft>
              <a:defRPr sz="1800" b="1">
                <a:solidFill>
                  <a:srgbClr val="00BAB3"/>
                </a:solidFill>
                <a:latin typeface="Microsoft YaHei"/>
              </a:defRPr>
            </a:pPr>
            <a:r>
              <a:t>〝 让 AI 成为每一个工业销售的随身售前工程师 — 选型不再等待，知识不再流失 〞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0080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70"/>
              </a:lnSpc>
              <a:spcAft>
                <a:spcPts val="0"/>
              </a:spcAft>
              <a:defRPr sz="900" b="0">
                <a:solidFill>
                  <a:srgbClr val="647282"/>
                </a:solidFill>
                <a:latin typeface="Microsoft YaHei"/>
              </a:defRPr>
            </a:pPr>
            <a:r>
              <a:t>github.com/wangzibin/industrial-copilot  ·  Next.js 15 + Supabase + DeepSeek + Vercel AI SDK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7395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170"/>
              </a:lnSpc>
              <a:spcAft>
                <a:spcPts val="0"/>
              </a:spcAft>
              <a:defRPr sz="900" b="0">
                <a:solidFill>
                  <a:srgbClr val="647282"/>
                </a:solidFill>
                <a:latin typeface="Microsoft YaHei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